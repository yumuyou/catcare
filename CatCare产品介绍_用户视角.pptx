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2 0 2 6  西红门镇产业创新黑客松 · 宠物经济赛道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200" b="1">
                <a:solidFill>
                  <a:srgbClr val="175A5E"/>
                </a:solidFill>
                <a:latin typeface="PingFang SC"/>
                <a:ea typeface="PingFang SC"/>
              </a:rPr>
              <a:t>CatCare</a:t>
            </a:r>
          </a:p>
          <a:p>
            <a:pPr algn="l">
              <a:lnSpc>
                <a:spcPct val="125000"/>
              </a:lnSpc>
            </a:pPr>
            <a:r>
              <a:rPr sz="4400" b="1">
                <a:solidFill>
                  <a:srgbClr val="175A5E"/>
                </a:solidFill>
                <a:latin typeface="PingFang SC"/>
                <a:ea typeface="PingFang SC"/>
              </a:rPr>
              <a:t>捡到猫的第一晚，</a:t>
            </a:r>
            <a:r>
              <a:rPr sz="4400" b="1">
                <a:solidFill>
                  <a:srgbClr val="00C2CE"/>
                </a:solidFill>
                <a:latin typeface="PingFang SC"/>
                <a:ea typeface="PingFang SC"/>
              </a:rPr>
              <a:t>你不用慌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98755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>
                <a:solidFill>
                  <a:srgbClr val="5E9095"/>
                </a:solidFill>
                <a:latin typeface="PingFang SC"/>
                <a:ea typeface="PingFang SC"/>
              </a:rPr>
              <a:t>这份 PPT 不讲技术，只讲一件事：</a:t>
            </a:r>
          </a:p>
          <a:p>
            <a:pPr algn="l">
              <a:lnSpc>
                <a:spcPct val="145000"/>
              </a:lnSpc>
            </a:pPr>
            <a:r>
              <a:rPr sz="2000" b="0">
                <a:solidFill>
                  <a:srgbClr val="5E9095"/>
                </a:solidFill>
                <a:latin typeface="PingFang SC"/>
                <a:ea typeface="PingFang SC"/>
              </a:rPr>
              <a:t>一个从没养过猫的普通人，用 CatCare 的一周是什么样的。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4846320"/>
            <a:ext cx="2377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0">
                <a:solidFill>
                  <a:srgbClr val="175A5E"/>
                </a:solidFill>
                <a:latin typeface="PingFang SC"/>
                <a:ea typeface="PingFang SC"/>
              </a:rPr>
              <a:t>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用户视角产品介绍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先认识一下我们的用户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小雨，26 岁，昨晚在小区捡到一只小猫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240280"/>
            <a:ext cx="99669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175A5E"/>
                </a:solidFill>
                <a:latin typeface="PingFang SC"/>
                <a:ea typeface="PingFang SC"/>
              </a:rPr>
              <a:t>她给它取名「豆豆」。然后打开手机搜「捡到小猫怎么办」——</a:t>
            </a:r>
          </a:p>
          <a:p>
            <a:pPr algn="l">
              <a:lnSpc>
                <a:spcPct val="150000"/>
              </a:lnSpc>
            </a:pPr>
            <a:r>
              <a:rPr sz="1700" b="0">
                <a:solidFill>
                  <a:srgbClr val="175A5E"/>
                </a:solidFill>
                <a:latin typeface="PingFang SC"/>
                <a:ea typeface="PingFang SC"/>
              </a:rPr>
              <a:t>攻略说要打疫苗，评论说先驱虫；有人说喂羊奶，有人说千万别；</a:t>
            </a:r>
          </a:p>
          <a:p>
            <a:pPr algn="l">
              <a:lnSpc>
                <a:spcPct val="150000"/>
              </a:lnSpc>
            </a:pPr>
            <a:r>
              <a:rPr sz="1700" b="1">
                <a:solidFill>
                  <a:srgbClr val="FF5D5D"/>
                </a:solidFill>
                <a:latin typeface="PingFang SC"/>
                <a:ea typeface="PingFang SC"/>
              </a:rPr>
              <a:t>半小时后，她关掉了 23 个网页，比搜索之前更慌了。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E9095"/>
                </a:solidFill>
                <a:latin typeface="PingFang SC"/>
                <a:ea typeface="PingFang SC"/>
              </a:rPr>
              <a:t>小雨不是个例——大量新手是「意外开始养猫」的：捡到的、朋友送的、临时接手的。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75A5E"/>
                </a:solidFill>
                <a:latin typeface="PingFang SC"/>
                <a:ea typeface="PingFang SC"/>
              </a:rPr>
              <a:t>他们缺的不是信息，是</a:t>
            </a:r>
            <a:r>
              <a:rPr sz="2000" b="1">
                <a:solidFill>
                  <a:srgbClr val="00C2CE"/>
                </a:solidFill>
                <a:latin typeface="PingFang SC"/>
                <a:ea typeface="PingFang SC"/>
              </a:rPr>
              <a:t>「现在、我家这只猫、到底该怎么办」</a:t>
            </a:r>
            <a:r>
              <a:rPr sz="2000" b="0">
                <a:solidFill>
                  <a:srgbClr val="175A5E"/>
                </a:solidFill>
                <a:latin typeface="PingFang SC"/>
                <a:ea typeface="PingFang SC"/>
              </a:rPr>
              <a:t>的答案。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用户故事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第 1 天 · 小雨的问题：我到底该做什么？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答 4 个问题，拿到一份</a:t>
            </a:r>
            <a:r>
              <a:rPr sz="3200" b="1">
                <a:solidFill>
                  <a:srgbClr val="00C2CE"/>
                </a:solidFill>
                <a:latin typeface="PingFang SC"/>
                <a:ea typeface="PingFang SC"/>
              </a:rPr>
              <a:t>只属于豆豆的养护清单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21408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175A5E"/>
                </a:solidFill>
                <a:latin typeface="PingFang SC"/>
                <a:ea typeface="PingFang SC"/>
              </a:rPr>
              <a:t>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75A5E"/>
                </a:solidFill>
                <a:latin typeface="PingFang SC"/>
                <a:ea typeface="PingFang SC"/>
              </a:rPr>
              <a:t>怎么养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E9095"/>
                </a:solidFill>
                <a:latin typeface="PingFang SC"/>
                <a:ea typeface="PingFang SC"/>
              </a:rPr>
              <a:t>全室内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35808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35808" y="2121408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175A5E"/>
                </a:solidFill>
                <a:latin typeface="PingFang SC"/>
                <a:ea typeface="PingFang SC"/>
              </a:rPr>
              <a:t>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2651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75A5E"/>
                </a:solidFill>
                <a:latin typeface="PingFang SC"/>
                <a:ea typeface="PingFang SC"/>
              </a:rPr>
              <a:t>叫什么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301752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E9095"/>
                </a:solidFill>
                <a:latin typeface="PingFang SC"/>
                <a:ea typeface="PingFang SC"/>
              </a:rPr>
              <a:t>豆豆 · 田园猫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48656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8656" y="2121408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175A5E"/>
                </a:solidFill>
                <a:latin typeface="PingFang SC"/>
                <a:ea typeface="PingFang SC"/>
              </a:rPr>
              <a:t>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8656" y="2651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75A5E"/>
                </a:solidFill>
                <a:latin typeface="PingFang SC"/>
                <a:ea typeface="PingFang SC"/>
              </a:rPr>
              <a:t>多大了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301752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E9095"/>
                </a:solidFill>
                <a:latin typeface="PingFang SC"/>
                <a:ea typeface="PingFang SC"/>
              </a:rPr>
              <a:t>约2月龄 · 0.9kg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61504" y="1965960"/>
            <a:ext cx="2011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504" y="2121408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175A5E"/>
                </a:solidFill>
                <a:latin typeface="PingFang SC"/>
                <a:ea typeface="PingFang SC"/>
              </a:rPr>
              <a:t>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61504" y="2651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75A5E"/>
                </a:solidFill>
                <a:latin typeface="PingFang SC"/>
                <a:ea typeface="PingFang SC"/>
              </a:rPr>
              <a:t>做过什么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3017520"/>
            <a:ext cx="2011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E9095"/>
                </a:solidFill>
                <a:latin typeface="PingFang SC"/>
                <a:ea typeface="PingFang SC"/>
              </a:rPr>
              <a:t>都没做过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233172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657600"/>
            <a:ext cx="10515600" cy="1920240"/>
          </a:xfrm>
          <a:prstGeom prst="roundRect">
            <a:avLst>
              <a:gd name="adj" fmla="val 8000"/>
            </a:avLst>
          </a:prstGeom>
          <a:solidFill>
            <a:srgbClr val="DDF6F5"/>
          </a:solidFill>
          <a:ln w="12700">
            <a:solidFill>
              <a:srgbClr val="DDF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3840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0C2CE"/>
                </a:solidFill>
                <a:latin typeface="PingFang SC"/>
                <a:ea typeface="PingFang SC"/>
              </a:rPr>
              <a:t>豆豆的时间线（AI 根据月龄、品种、生活方式即时生成）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34340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5D5D"/>
                </a:solidFill>
                <a:latin typeface="PingFang SC"/>
                <a:ea typeface="PingFang SC"/>
              </a:rPr>
              <a:t>本周要做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80060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第二针疫苗 · 首次体内驱虫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34340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C77700"/>
                </a:solidFill>
                <a:latin typeface="PingFang SC"/>
                <a:ea typeface="PingFang SC"/>
              </a:rPr>
              <a:t>本月计划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80060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体外驱虫 · 幼猫粮少食多餐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434340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0C2CE"/>
                </a:solidFill>
                <a:latin typeface="PingFang SC"/>
                <a:ea typeface="PingFang SC"/>
              </a:rPr>
              <a:t>未来节点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80060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75A5E"/>
                </a:solidFill>
                <a:latin typeface="PingFang SC"/>
                <a:ea typeface="PingFang SC"/>
              </a:rPr>
              <a:t>第三针+狂犬 · 6月龄绝育评估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E9095"/>
                </a:solidFill>
                <a:latin typeface="PingFang SC"/>
                <a:ea typeface="PingFang SC"/>
              </a:rPr>
              <a:t>每个待办点开就是「怎么做」的 3 步指引 + 新手最容易踩的坑。做完打勾，像闯关一样。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专属养护时间线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为什么说是「你家猫的」清单，不是网上抄的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同样是猫，清单完全不同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5120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75A5E"/>
                </a:solidFill>
                <a:latin typeface="PingFang SC"/>
                <a:ea typeface="PingFang SC"/>
              </a:rPr>
              <a:t>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21945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会出门的猫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26974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E9095"/>
                </a:solidFill>
                <a:latin typeface="PingFang SC"/>
                <a:ea typeface="PingFang SC"/>
              </a:rPr>
              <a:t>自动加上狂犬疫苗、更勤的体外驱虫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65960"/>
            <a:ext cx="5120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94560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75A5E"/>
                </a:solidFill>
                <a:latin typeface="PingFang SC"/>
                <a:ea typeface="PingFang SC"/>
              </a:rPr>
              <a:t>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1945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家里还有狗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697480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E9095"/>
                </a:solidFill>
                <a:latin typeface="PingFang SC"/>
                <a:ea typeface="PingFang SC"/>
              </a:rPr>
              <a:t>驱虫频率提高，并告诉你为什么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749039"/>
            <a:ext cx="5120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977639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75A5E"/>
                </a:solidFill>
                <a:latin typeface="PingFang SC"/>
                <a:ea typeface="PingFang SC"/>
              </a:rPr>
              <a:t>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3977639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布偶等长毛猫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20" y="4480559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E9095"/>
                </a:solidFill>
                <a:latin typeface="PingFang SC"/>
                <a:ea typeface="PingFang SC"/>
              </a:rPr>
              <a:t>换毛季自动加梳毛节点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49039"/>
            <a:ext cx="512064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977639"/>
            <a:ext cx="731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175A5E"/>
                </a:solidFill>
                <a:latin typeface="PingFang SC"/>
                <a:ea typeface="PingFang SC"/>
              </a:rP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977639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已经绝育了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480559"/>
            <a:ext cx="3931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E9095"/>
                </a:solidFill>
                <a:latin typeface="PingFang SC"/>
                <a:ea typeface="PingFang SC"/>
              </a:rPr>
              <a:t>绝育相关提醒彻底消失，不再打扰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7150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E9095"/>
                </a:solidFill>
                <a:latin typeface="PingFang SC"/>
                <a:ea typeface="PingFang SC"/>
              </a:rPr>
              <a:t>填一次档案，之后打开就是自己的猫——</a:t>
            </a:r>
            <a:r>
              <a:rPr sz="1500" b="1">
                <a:solidFill>
                  <a:srgbClr val="175A5E"/>
                </a:solidFill>
                <a:latin typeface="PingFang SC"/>
                <a:ea typeface="PingFang SC"/>
              </a:rPr>
              <a:t>档案永久保存，养两只猫就建两份，一键切换。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千猫千面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第 3 天凌晨 1 点 · 小雨的问题：豆豆吐了，严重吗？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问一句，告诉你</a:t>
            </a:r>
            <a:r>
              <a:rPr sz="3200" b="1">
                <a:solidFill>
                  <a:srgbClr val="00C2CE"/>
                </a:solidFill>
                <a:latin typeface="PingFang SC"/>
                <a:ea typeface="PingFang SC"/>
              </a:rPr>
              <a:t>该观察，还是该去医院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3840480" cy="548640"/>
          </a:xfrm>
          <a:prstGeom prst="roundRect">
            <a:avLst>
              <a:gd name="adj" fmla="val 35000"/>
            </a:avLst>
          </a:prstGeom>
          <a:solidFill>
            <a:srgbClr val="00C2CE"/>
          </a:solidFill>
          <a:ln w="12700">
            <a:solidFill>
              <a:srgbClr val="00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63500" bIns="63500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FFFFFF"/>
                </a:solidFill>
                <a:latin typeface="PingFang SC"/>
                <a:ea typeface="PingFang SC"/>
              </a:rPr>
              <a:t>豆豆刚才吐了一次，怎么办？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2724912"/>
            <a:ext cx="5120640" cy="822959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63500" bIns="63500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175A5E"/>
                </a:solidFill>
                <a:latin typeface="PingFang SC"/>
                <a:ea typeface="PingFang SC"/>
              </a:rPr>
              <a:t>吐了几次？它现在的精神状态怎么样，还愿意动吗？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12463"/>
            <a:ext cx="3840480" cy="548640"/>
          </a:xfrm>
          <a:prstGeom prst="roundRect">
            <a:avLst>
              <a:gd name="adj" fmla="val 35000"/>
            </a:avLst>
          </a:prstGeom>
          <a:solidFill>
            <a:srgbClr val="00C2CE"/>
          </a:solidFill>
          <a:ln w="12700">
            <a:solidFill>
              <a:srgbClr val="00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63500" bIns="63500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FFFFFF"/>
                </a:solidFill>
                <a:latin typeface="PingFang SC"/>
                <a:ea typeface="PingFang SC"/>
              </a:rPr>
              <a:t>就一次，现在在追激光笔玩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011680"/>
            <a:ext cx="4663440" cy="3291840"/>
          </a:xfrm>
          <a:prstGeom prst="roundRect">
            <a:avLst>
              <a:gd name="adj" fmla="val 8000"/>
            </a:avLst>
          </a:prstGeom>
          <a:solidFill>
            <a:srgbClr val="DDF6F5"/>
          </a:solidFill>
          <a:ln w="12700">
            <a:solidFill>
              <a:srgbClr val="00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2240280"/>
            <a:ext cx="4114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0C2CE"/>
                </a:solidFill>
                <a:latin typeface="PingFang SC"/>
                <a:ea typeface="PingFang SC"/>
              </a:rPr>
              <a:t>✅ 在家观察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880360"/>
            <a:ext cx="41148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单次呕吐+精神好，大概率是毛球或吃太快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今晚少量多次喂水，观察是否再吐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如果吐第 2 次或精神变差，马上再来问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5669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FF5D5D"/>
                </a:solidFill>
                <a:latin typeface="PingFang SC"/>
                <a:ea typeface="PingFang SC"/>
              </a:rPr>
              <a:t>红</a:t>
            </a:r>
            <a:r>
              <a:rPr sz="1600" b="0">
                <a:solidFill>
                  <a:srgbClr val="175A5E"/>
                </a:solidFill>
                <a:latin typeface="PingFang SC"/>
                <a:ea typeface="PingFang SC"/>
              </a:rPr>
              <a:t>＝立即就医　</a:t>
            </a:r>
            <a:r>
              <a:rPr sz="1600" b="1">
                <a:solidFill>
                  <a:srgbClr val="C77700"/>
                </a:solidFill>
                <a:latin typeface="PingFang SC"/>
                <a:ea typeface="PingFang SC"/>
              </a:rPr>
              <a:t>黄</a:t>
            </a:r>
            <a:r>
              <a:rPr sz="1600" b="0">
                <a:solidFill>
                  <a:srgbClr val="175A5E"/>
                </a:solidFill>
                <a:latin typeface="PingFang SC"/>
                <a:ea typeface="PingFang SC"/>
              </a:rPr>
              <a:t>＝24-48小时内就医　</a:t>
            </a:r>
            <a:r>
              <a:rPr sz="1600" b="1">
                <a:solidFill>
                  <a:srgbClr val="00C2CE"/>
                </a:solidFill>
                <a:latin typeface="PingFang SC"/>
                <a:ea typeface="PingFang SC"/>
              </a:rPr>
              <a:t>绿</a:t>
            </a:r>
            <a:r>
              <a:rPr sz="1600" b="0">
                <a:solidFill>
                  <a:srgbClr val="175A5E"/>
                </a:solidFill>
                <a:latin typeface="PingFang SC"/>
                <a:ea typeface="PingFang SC"/>
              </a:rPr>
              <a:t>＝在家观察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它知道豆豆是 2 月龄幼猫，判断会更谨慎；公猫尿不出来这类致命急症，一律红色直送医院。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AI 问诊分诊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第 5 天 · 小雨的问题：真要去医院，去哪家？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按你的位置排好序，</a:t>
            </a:r>
            <a:r>
              <a:rPr sz="3200" b="1">
                <a:solidFill>
                  <a:srgbClr val="FF5D5D"/>
                </a:solidFill>
                <a:latin typeface="PingFang SC"/>
                <a:ea typeface="PingFang SC"/>
              </a:rPr>
              <a:t>24 小时急诊永远置顶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FE9E9"/>
          </a:solidFill>
          <a:ln w="12700">
            <a:solidFill>
              <a:srgbClr val="FF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488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75A5E"/>
                </a:solidFill>
                <a:latin typeface="PingFang SC"/>
                <a:ea typeface="PingFang SC"/>
              </a:rPr>
              <a:t>全心全意动物医院 </a:t>
            </a:r>
            <a:r>
              <a:rPr sz="1100" b="1">
                <a:solidFill>
                  <a:srgbClr val="FF5D5D"/>
                </a:solidFill>
                <a:latin typeface="PingFang SC"/>
                <a:ea typeface="PingFang SC"/>
              </a:rPr>
              <a:t>24小时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E9095"/>
                </a:solidFill>
                <a:latin typeface="PingFang SC"/>
                <a:ea typeface="PingFang SC"/>
              </a:rPr>
              <a:t>宏业路理想家园北门底商 · 594m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4436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0C2CE"/>
                </a:solidFill>
                <a:latin typeface="PingFang SC"/>
                <a:ea typeface="PingFang SC"/>
              </a:rPr>
              <a:t>📞 一键拨号　　✏️ 记录本次就诊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520440"/>
            <a:ext cx="51206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6576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175A5E"/>
                </a:solidFill>
                <a:latin typeface="PingFang SC"/>
                <a:ea typeface="PingFang SC"/>
              </a:rPr>
              <a:t>宠颐生爱福动物医院 · 599m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E9095"/>
                </a:solidFill>
                <a:latin typeface="PingFang SC"/>
                <a:ea typeface="PingFang SC"/>
              </a:rPr>
              <a:t>距离按你的实时定位计算，不是拍脑袋写的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965960"/>
            <a:ext cx="5029200" cy="2606040"/>
          </a:xfrm>
          <a:prstGeom prst="roundRect">
            <a:avLst>
              <a:gd name="adj" fmla="val 8000"/>
            </a:avLst>
          </a:prstGeom>
          <a:solidFill>
            <a:srgbClr val="FFF4DB"/>
          </a:solidFill>
          <a:ln w="12700">
            <a:solidFill>
              <a:srgbClr val="FFF4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1488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C77700"/>
                </a:solidFill>
                <a:latin typeface="PingFang SC"/>
                <a:ea typeface="PingFang SC"/>
              </a:rPr>
              <a:t>📍 出差在外地怎么办？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697480"/>
            <a:ext cx="44805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它发现你不在西红门，会自动联网搜索你附近的宠物医院——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在朝阳就推朝阳的，在上海就推上海的，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175A5E"/>
                </a:solidFill>
                <a:latin typeface="PingFang SC"/>
                <a:ea typeface="PingFang SC"/>
              </a:rPr>
              <a:t>每家带「🧭 导航」按钮，一点直达高德地图。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5E9095"/>
                </a:solidFill>
                <a:latin typeface="PingFang SC"/>
                <a:ea typeface="PingFang SC"/>
              </a:rPr>
              <a:t>急的时候最怕想不起来。</a:t>
            </a:r>
            <a:r>
              <a:rPr sz="1800" b="1">
                <a:solidFill>
                  <a:srgbClr val="175A5E"/>
                </a:solidFill>
                <a:latin typeface="PingFang SC"/>
                <a:ea typeface="PingFang SC"/>
              </a:rPr>
              <a:t>从「AI 说要去医院」到「电话打通、导航出发」，中间不需要退出 App 查任何东西。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医院直达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从医院回来 · 小雨的问题：医生说了一堆，我记不住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把医嘱抄进来，</a:t>
            </a:r>
            <a:r>
              <a:rPr sz="3200" b="1">
                <a:solidFill>
                  <a:srgbClr val="00C2CE"/>
                </a:solidFill>
                <a:latin typeface="PingFang SC"/>
                <a:ea typeface="PingFang SC"/>
              </a:rPr>
              <a:t>它自动变成日程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493776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4389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5E9095"/>
                </a:solidFill>
                <a:latin typeface="PingFang SC"/>
                <a:ea typeface="PingFang SC"/>
              </a:rPr>
              <a:t>小雨记的医嘱（原话照抄就行）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88920"/>
            <a:ext cx="43891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5A5E"/>
                </a:solidFill>
                <a:latin typeface="PingFang SC"/>
                <a:ea typeface="PingFang SC"/>
              </a:rPr>
              <a:t>「禁食12小时，益生菌每天两次连喂5天，3天后复诊」
检查单拍照存进去，下次复诊直接给医生看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108960"/>
            <a:ext cx="548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103120"/>
            <a:ext cx="4846320" cy="2651760"/>
          </a:xfrm>
          <a:prstGeom prst="roundRect">
            <a:avLst>
              <a:gd name="adj" fmla="val 8000"/>
            </a:avLst>
          </a:prstGeom>
          <a:solidFill>
            <a:srgbClr val="DDF6F5"/>
          </a:solidFill>
          <a:ln w="12700">
            <a:solidFill>
              <a:srgbClr val="DDF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286000"/>
            <a:ext cx="4297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自动出现在豆豆的时间线里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788920"/>
            <a:ext cx="4297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75A5E"/>
                </a:solidFill>
                <a:latin typeface="PingFang SC"/>
                <a:ea typeface="PingFang SC"/>
              </a:rPr>
              <a:t>🏥 今天：开始禁食 12 小时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355848"/>
            <a:ext cx="4297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75A5E"/>
                </a:solidFill>
                <a:latin typeface="PingFang SC"/>
                <a:ea typeface="PingFang SC"/>
              </a:rPr>
              <a:t>🏥 每天：益生菌 ×2（连续5天）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922776"/>
            <a:ext cx="4297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75A5E"/>
                </a:solidFill>
                <a:latin typeface="PingFang SC"/>
                <a:ea typeface="PingFang SC"/>
              </a:rPr>
              <a:t>🏥 周四：回医院复诊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0749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5E9095"/>
                </a:solidFill>
                <a:latin typeface="PingFang SC"/>
                <a:ea typeface="PingFang SC"/>
              </a:rPr>
              <a:t>就诊记录、问诊记录、检查单照片都沉淀在豆豆的健康档案里——</a:t>
            </a:r>
            <a:r>
              <a:rPr sz="1600" b="1">
                <a:solidFill>
                  <a:srgbClr val="175A5E"/>
                </a:solidFill>
                <a:latin typeface="PingFang SC"/>
                <a:ea typeface="PingFang SC"/>
              </a:rPr>
              <a:t>下次换医院，病史一目了然。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医嘱回流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之后的每一天 · 猫不会说话，数据替它说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175A5E"/>
                </a:solidFill>
                <a:latin typeface="PingFang SC"/>
                <a:ea typeface="PingFang SC"/>
              </a:rPr>
              <a:t>随手记一笔，健康看得见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333756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175A5E"/>
                </a:solidFill>
                <a:latin typeface="PingFang SC"/>
                <a:ea typeface="PingFang SC"/>
              </a:rPr>
              <a:t>⚖️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2788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体重曲线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566160"/>
            <a:ext cx="2834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每次称重记一笔，涨没涨、瘦没瘦一眼看出来。成年猫体重突变往往是最早的生病信号。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011680"/>
            <a:ext cx="333756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28600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175A5E"/>
                </a:solidFill>
                <a:latin typeface="PingFang SC"/>
                <a:ea typeface="PingFang SC"/>
              </a:rPr>
              <a:t>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3017520"/>
            <a:ext cx="2788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每日科普 + 随手查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566160"/>
            <a:ext cx="2834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「猫能喝牛奶吗」「猫藓长什么样」——30 条兽医知识库随手查，答案标注来源，不瞎编。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011680"/>
            <a:ext cx="333756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E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0">
                <a:solidFill>
                  <a:srgbClr val="175A5E"/>
                </a:solidFill>
                <a:latin typeface="PingFang SC"/>
                <a:ea typeface="PingFang SC"/>
              </a:rPr>
              <a:t>🐱🐱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017520"/>
            <a:ext cx="2788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第二只猫？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66160"/>
            <a:ext cx="2834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5E9095"/>
                </a:solidFill>
                <a:latin typeface="PingFang SC"/>
                <a:ea typeface="PingFang SC"/>
              </a:rPr>
              <a:t>点「添加宠物」再建一份档案。每只猫独立的时间线、体重、病史，顶部一键切换。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E9095"/>
                </a:solidFill>
                <a:latin typeface="PingFang SC"/>
                <a:ea typeface="PingFang SC"/>
              </a:rPr>
              <a:t>所有数据存在小雨自己的手机里，</a:t>
            </a:r>
            <a:r>
              <a:rPr sz="1500" b="1">
                <a:solidFill>
                  <a:srgbClr val="175A5E"/>
                </a:solidFill>
                <a:latin typeface="PingFang SC"/>
                <a:ea typeface="PingFang SC"/>
              </a:rPr>
              <a:t>关掉再开不用重填，也不上传任何隐私。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长期陪伴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0C2CE"/>
                </a:solidFill>
                <a:latin typeface="PingFang SC"/>
                <a:ea typeface="PingFang SC"/>
              </a:rPr>
              <a:t>一周后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98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75A5E"/>
                </a:solidFill>
                <a:latin typeface="PingFang SC"/>
                <a:ea typeface="PingFang SC"/>
              </a:rPr>
              <a:t>小雨还是那个新手，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00C2CE"/>
                </a:solidFill>
                <a:latin typeface="PingFang SC"/>
                <a:ea typeface="PingFang SC"/>
              </a:rPr>
              <a:t>但她不慌了。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9095"/>
                </a:solidFill>
                <a:latin typeface="PingFang SC"/>
                <a:ea typeface="PingFang SC"/>
              </a:rPr>
              <a:t>那晚的 23 个网页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60604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26060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1 分钟建档，一份自己的清单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4728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9095"/>
                </a:solidFill>
                <a:latin typeface="PingFang SC"/>
                <a:ea typeface="PingFang SC"/>
              </a:rPr>
              <a:t>凌晨一点的恐慌搜索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344728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3447288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问一句，红黄绿说清楚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88536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9095"/>
                </a:solidFill>
                <a:latin typeface="PingFang SC"/>
                <a:ea typeface="PingFang SC"/>
              </a:rPr>
              <a:t>「去哪家医院」的手忙脚乱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4288536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288536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按位置排序，一键拨号导航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9784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9095"/>
                </a:solidFill>
                <a:latin typeface="PingFang SC"/>
                <a:ea typeface="PingFang SC"/>
              </a:rPr>
              <a:t>记不住的医嘱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512978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0C2CE"/>
                </a:solidFill>
                <a:latin typeface="PingFang SC"/>
                <a:ea typeface="PingFang SC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5129784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75A5E"/>
                </a:solidFill>
                <a:latin typeface="PingFang SC"/>
                <a:ea typeface="PingFang SC"/>
              </a:rPr>
              <a:t>自动变成打勾就行的日程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5E9095"/>
                </a:solidFill>
                <a:latin typeface="PingFang SC"/>
                <a:ea typeface="PingFang SC"/>
              </a:rPr>
              <a:t>我们不想让用户学会养猫知识，我们想让豆豆被养好。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用户价值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B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>
                <a:solidFill>
                  <a:srgbClr val="175A5E"/>
                </a:solidFill>
                <a:latin typeface="PingFang SC"/>
                <a:ea typeface="PingFang SC"/>
              </a:rPr>
              <a:t>每一只被捡回家的猫，</a:t>
            </a:r>
          </a:p>
          <a:p>
            <a:pPr algn="l">
              <a:lnSpc>
                <a:spcPct val="135000"/>
              </a:lnSpc>
            </a:pPr>
            <a:r>
              <a:rPr sz="4000" b="1">
                <a:solidFill>
                  <a:srgbClr val="00C2CE"/>
                </a:solidFill>
                <a:latin typeface="PingFang SC"/>
                <a:ea typeface="PingFang SC"/>
              </a:rPr>
              <a:t>都值得一个不慌的主人。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480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9095"/>
                </a:solidFill>
                <a:latin typeface="PingFang SC"/>
                <a:ea typeface="PingFang SC"/>
              </a:rPr>
              <a:t>现在就可以体验 · 手机打开即用，无需安装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074920"/>
            <a:ext cx="4754880" cy="566928"/>
          </a:xfrm>
          <a:prstGeom prst="roundRect">
            <a:avLst>
              <a:gd name="adj" fmla="val 50000"/>
            </a:avLst>
          </a:prstGeom>
          <a:solidFill>
            <a:srgbClr val="DDF6F5"/>
          </a:solidFill>
          <a:ln w="12700">
            <a:solidFill>
              <a:srgbClr val="DDF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0C2CE"/>
                </a:solidFill>
                <a:latin typeface="PingFang SC"/>
                <a:ea typeface="PingFang SC"/>
              </a:rPr>
              <a:t>catcare-chi.vercel.app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00"/>
            <a:ext cx="21945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00" b="0">
                <a:solidFill>
                  <a:srgbClr val="175A5E"/>
                </a:solidFill>
                <a:latin typeface="PingFang SC"/>
                <a:ea typeface="PingFang SC"/>
              </a:rPr>
              <a:t>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19088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CatCare · 2026 西红门镇产业创新黑客松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5E9095"/>
                </a:solidFill>
                <a:latin typeface="PingFang SC"/>
                <a:ea typeface="PingFang S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