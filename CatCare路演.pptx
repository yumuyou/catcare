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2 0 2 6  西红门镇产业创新黑客松 · 宠物经济赛道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600" b="1">
                <a:solidFill>
                  <a:srgbClr val="175A5E"/>
                </a:solidFill>
                <a:latin typeface="PingFang SC"/>
                <a:ea typeface="PingFang SC"/>
              </a:rPr>
              <a:t>CatCare</a:t>
            </a:r>
          </a:p>
          <a:p>
            <a:pPr algn="l">
              <a:lnSpc>
                <a:spcPct val="125000"/>
              </a:lnSpc>
            </a:pPr>
            <a:r>
              <a:rPr sz="5400" b="1">
                <a:solidFill>
                  <a:srgbClr val="175A5E"/>
                </a:solidFill>
                <a:latin typeface="PingFang SC"/>
                <a:ea typeface="PingFang SC"/>
              </a:rPr>
              <a:t>新手养猫</a:t>
            </a:r>
            <a:r>
              <a:rPr sz="5400" b="1">
                <a:solidFill>
                  <a:srgbClr val="00C2CE"/>
                </a:solidFill>
                <a:latin typeface="PingFang SC"/>
                <a:ea typeface="PingFang SC"/>
              </a:rPr>
              <a:t>不慌</a:t>
            </a:r>
            <a:r>
              <a:rPr sz="5400" b="1">
                <a:solidFill>
                  <a:srgbClr val="175A5E"/>
                </a:solidFill>
                <a:latin typeface="PingFang SC"/>
                <a:ea typeface="PingFang SC"/>
              </a:rPr>
              <a:t>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>
                <a:solidFill>
                  <a:srgbClr val="5E9095"/>
                </a:solidFill>
                <a:latin typeface="PingFang SC"/>
                <a:ea typeface="PingFang SC"/>
              </a:rPr>
              <a:t>从「该做什么」到「去哪家医院」——</a:t>
            </a:r>
          </a:p>
          <a:p>
            <a:pPr algn="l">
              <a:lnSpc>
                <a:spcPct val="140000"/>
              </a:lnSpc>
            </a:pPr>
            <a:r>
              <a:rPr sz="2000" b="0">
                <a:solidFill>
                  <a:srgbClr val="5E9095"/>
                </a:solidFill>
                <a:latin typeface="PingFang SC"/>
                <a:ea typeface="PingFang SC"/>
              </a:rPr>
              <a:t>一个 AI 管家，把新手养猫焦虑在镇内闭环解决。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493776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0" b="0">
                <a:solidFill>
                  <a:srgbClr val="175A5E"/>
                </a:solidFill>
                <a:latin typeface="PingFang SC"/>
                <a:ea typeface="PingFang SC"/>
              </a:rPr>
              <a:t>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CatCare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为什么做这件事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75A5E"/>
                </a:solidFill>
                <a:latin typeface="PingFang SC"/>
                <a:ea typeface="PingFang SC"/>
              </a:rPr>
              <a:t>新手猫主的三个深夜时刻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2918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0">
                <a:solidFill>
                  <a:srgbClr val="175A5E"/>
                </a:solidFill>
                <a:latin typeface="PingFang SC"/>
                <a:ea typeface="PingFang SC"/>
              </a:rPr>
              <a:t>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75A5E"/>
                </a:solidFill>
                <a:latin typeface="PingFang SC"/>
                <a:ea typeface="PingFang SC"/>
              </a:rPr>
              <a:t>不知道该做什么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03320"/>
            <a:ext cx="27889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5E9095"/>
                </a:solidFill>
                <a:latin typeface="PingFang SC"/>
                <a:ea typeface="PingFang SC"/>
              </a:rPr>
              <a:t>疫苗几针？几时驱虫？知识散落在碎片化搜索里，没有一份为自家猫定制的清单。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011680"/>
            <a:ext cx="32918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28600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0">
                <a:solidFill>
                  <a:srgbClr val="175A5E"/>
                </a:solidFill>
                <a:latin typeface="PingFang SC"/>
                <a:ea typeface="PingFang SC"/>
              </a:rPr>
              <a:t>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10896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75A5E"/>
                </a:solidFill>
                <a:latin typeface="PingFang SC"/>
                <a:ea typeface="PingFang SC"/>
              </a:rPr>
              <a:t>出事了不知道多严重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703320"/>
            <a:ext cx="27889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5E9095"/>
                </a:solidFill>
                <a:latin typeface="PingFang SC"/>
                <a:ea typeface="PingFang SC"/>
              </a:rPr>
              <a:t>半夜两点猫吐了——该观察还是冲医院？搜出来的答案从「没事」到「马上送医」都有。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32918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0">
                <a:solidFill>
                  <a:srgbClr val="175A5E"/>
                </a:solidFill>
                <a:latin typeface="PingFang SC"/>
                <a:ea typeface="PingFang SC"/>
              </a:rPr>
              <a:t>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10896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75A5E"/>
                </a:solidFill>
                <a:latin typeface="PingFang SC"/>
                <a:ea typeface="PingFang SC"/>
              </a:rPr>
              <a:t>该就医时不知道去哪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703320"/>
            <a:ext cx="27889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5E9095"/>
                </a:solidFill>
                <a:latin typeface="PingFang SC"/>
                <a:ea typeface="PingFang SC"/>
              </a:rPr>
              <a:t>镇里哪家靠谱、哪家 24 小时、哪家离得近——急的时候根本来不及查。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E9095"/>
                </a:solidFill>
                <a:latin typeface="PingFang SC"/>
                <a:ea typeface="PingFang SC"/>
              </a:rPr>
              <a:t>目标用户：养猫 &lt; 1 年的新手猫主 · 多为意外开始养猫（捡到 / 朋友送养）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CatCare · 痛点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我们的答案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75A5E"/>
                </a:solidFill>
                <a:latin typeface="PingFang SC"/>
                <a:ea typeface="PingFang SC"/>
              </a:rPr>
              <a:t>线上判断，线下落地，</a:t>
            </a:r>
            <a:r>
              <a:rPr sz="3400" b="1">
                <a:solidFill>
                  <a:srgbClr val="00C2CE"/>
                </a:solidFill>
                <a:latin typeface="PingFang SC"/>
                <a:ea typeface="PingFang SC"/>
              </a:rPr>
              <a:t>闭环在镇内完成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193852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93852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175A5E"/>
                </a:solidFill>
                <a:latin typeface="PingFang SC"/>
                <a:ea typeface="PingFang SC"/>
              </a:rPr>
              <a:t>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9385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175A5E"/>
                </a:solidFill>
                <a:latin typeface="PingFang SC"/>
                <a:ea typeface="PingFang SC"/>
              </a:rPr>
              <a:t>录入档案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19385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5E9095"/>
                </a:solidFill>
                <a:latin typeface="PingFang SC"/>
                <a:ea typeface="PingFang SC"/>
              </a:rPr>
              <a:t>1 分钟建档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80944" y="3017520"/>
            <a:ext cx="4023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0C2CE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286000"/>
            <a:ext cx="193852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514600"/>
            <a:ext cx="193852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175A5E"/>
                </a:solidFill>
                <a:latin typeface="PingFang SC"/>
                <a:ea typeface="PingFang SC"/>
              </a:rPr>
              <a:t>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200400"/>
            <a:ext cx="19385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175A5E"/>
                </a:solidFill>
                <a:latin typeface="PingFang SC"/>
                <a:ea typeface="PingFang SC"/>
              </a:rPr>
              <a:t>养护时间线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703320"/>
            <a:ext cx="19385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5E9095"/>
                </a:solidFill>
                <a:latin typeface="PingFang SC"/>
                <a:ea typeface="PingFang SC"/>
              </a:rPr>
              <a:t>AI 按月龄品种定制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41264" y="3017520"/>
            <a:ext cx="4023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0C2CE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286000"/>
            <a:ext cx="193852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2514600"/>
            <a:ext cx="193852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175A5E"/>
                </a:solidFill>
                <a:latin typeface="PingFang SC"/>
                <a:ea typeface="PingFang SC"/>
              </a:rPr>
              <a:t>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00400"/>
            <a:ext cx="19385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175A5E"/>
                </a:solidFill>
                <a:latin typeface="PingFang SC"/>
                <a:ea typeface="PingFang SC"/>
              </a:rPr>
              <a:t>AI 问诊分诊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703320"/>
            <a:ext cx="19385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5E9095"/>
                </a:solidFill>
                <a:latin typeface="PingFang SC"/>
                <a:ea typeface="PingFang SC"/>
              </a:rPr>
              <a:t>红 / 黄 / 绿三档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4" y="3017520"/>
            <a:ext cx="4023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0C2CE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2286000"/>
            <a:ext cx="193852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2514600"/>
            <a:ext cx="193852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175A5E"/>
                </a:solidFill>
                <a:latin typeface="PingFang SC"/>
                <a:ea typeface="PingFang SC"/>
              </a:rPr>
              <a:t>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200400"/>
            <a:ext cx="19385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175A5E"/>
                </a:solidFill>
                <a:latin typeface="PingFang SC"/>
                <a:ea typeface="PingFang SC"/>
              </a:rPr>
              <a:t>镇内医院直达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703320"/>
            <a:ext cx="19385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5E9095"/>
                </a:solidFill>
                <a:latin typeface="PingFang SC"/>
                <a:ea typeface="PingFang SC"/>
              </a:rPr>
              <a:t>24h 急诊置顶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1904" y="3017520"/>
            <a:ext cx="4023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0C2CE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064240" y="2286000"/>
            <a:ext cx="193852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64240" y="2514600"/>
            <a:ext cx="193852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175A5E"/>
                </a:solidFill>
                <a:latin typeface="PingFang SC"/>
                <a:ea typeface="PingFang SC"/>
              </a:rPr>
              <a:t>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3200400"/>
            <a:ext cx="19385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175A5E"/>
                </a:solidFill>
                <a:latin typeface="PingFang SC"/>
                <a:ea typeface="PingFang SC"/>
              </a:rPr>
              <a:t>医嘱回流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3703320"/>
            <a:ext cx="19385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5E9095"/>
                </a:solidFill>
                <a:latin typeface="PingFang SC"/>
                <a:ea typeface="PingFang SC"/>
              </a:rPr>
              <a:t>自动变成待办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029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5E9095"/>
                </a:solidFill>
                <a:latin typeface="PingFang SC"/>
                <a:ea typeface="PingFang SC"/>
              </a:rPr>
              <a:t>不是记录工具（记住它），是养护服务（</a:t>
            </a:r>
            <a:r>
              <a:rPr sz="2000" b="1">
                <a:solidFill>
                  <a:srgbClr val="00C2CE"/>
                </a:solidFill>
                <a:latin typeface="PingFang SC"/>
                <a:ea typeface="PingFang SC"/>
              </a:rPr>
              <a:t>养好它</a:t>
            </a:r>
            <a:r>
              <a:rPr sz="2000" b="0">
                <a:solidFill>
                  <a:srgbClr val="5E9095"/>
                </a:solidFill>
                <a:latin typeface="PingFang SC"/>
                <a:ea typeface="PingFang SC"/>
              </a:rPr>
              <a:t>）。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CatCare · 解决方案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赛道命题：垂直知识库 + 多轮对话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75A5E"/>
                </a:solidFill>
                <a:latin typeface="PingFang SC"/>
                <a:ea typeface="PingFang SC"/>
              </a:rPr>
              <a:t>我们的回答是：</a:t>
            </a:r>
            <a:r>
              <a:rPr sz="3400" b="1">
                <a:solidFill>
                  <a:srgbClr val="00C2CE"/>
                </a:solidFill>
                <a:latin typeface="PingFang SC"/>
                <a:ea typeface="PingFang SC"/>
              </a:rPr>
              <a:t>只做猫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51206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5E9095"/>
                </a:solidFill>
                <a:latin typeface="PingFang SC"/>
                <a:ea typeface="PingFang SC"/>
              </a:rPr>
              <a:t>猫和犬的医疗体系差异巨大——疫苗程序、驱虫方案、急症谱系、禁忌药物都不同。垂类做深，分诊才可信。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93192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FFE9E9"/>
          </a:solidFill>
          <a:ln w="12700">
            <a:solidFill>
              <a:srgbClr val="FFE9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300" b="1">
                <a:solidFill>
                  <a:srgbClr val="FF5D5D"/>
                </a:solidFill>
                <a:latin typeface="PingFang SC"/>
                <a:ea typeface="PingFang SC"/>
              </a:rPr>
              <a:t>公猫尿闭 = 致命急症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393192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FFF4DB"/>
          </a:solidFill>
          <a:ln w="12700">
            <a:solidFill>
              <a:srgbClr val="FFF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300" b="1">
                <a:solidFill>
                  <a:srgbClr val="C77700"/>
                </a:solidFill>
                <a:latin typeface="PingFang SC"/>
                <a:ea typeface="PingFang SC"/>
              </a:rPr>
              <a:t>幼猫呕吐 ≠ 成猫呕吐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48056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DDF6F5"/>
          </a:solidFill>
          <a:ln w="12700">
            <a:solidFill>
              <a:srgbClr val="DDF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对乙酰氨基酚对猫剧毒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49377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82296" cy="3108960"/>
          </a:xfrm>
          <a:prstGeom prst="rect">
            <a:avLst/>
          </a:prstGeom>
          <a:solidFill>
            <a:srgbClr val="00C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286000"/>
            <a:ext cx="44348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50" b="0">
                <a:solidFill>
                  <a:srgbClr val="175A5E"/>
                </a:solidFill>
                <a:latin typeface="PingFang SC"/>
                <a:ea typeface="PingFang SC"/>
              </a:rPr>
              <a:t>团队内有真实猫主做知识校对：</a:t>
            </a:r>
          </a:p>
          <a:p>
            <a:pPr algn="l">
              <a:lnSpc>
                <a:spcPct val="155000"/>
              </a:lnSpc>
            </a:pPr>
            <a:r>
              <a:rPr sz="1650" b="0">
                <a:solidFill>
                  <a:srgbClr val="175A5E"/>
                </a:solidFill>
                <a:latin typeface="PingFang SC"/>
                <a:ea typeface="PingFang SC"/>
              </a:rPr>
              <a:t>「单次呕吐精神好，多半是毛球」</a:t>
            </a:r>
          </a:p>
          <a:p>
            <a:pPr algn="l">
              <a:lnSpc>
                <a:spcPct val="155000"/>
              </a:lnSpc>
            </a:pPr>
            <a:r>
              <a:rPr sz="1650" b="0">
                <a:solidFill>
                  <a:srgbClr val="175A5E"/>
                </a:solidFill>
                <a:latin typeface="PingFang SC"/>
                <a:ea typeface="PingFang SC"/>
              </a:rPr>
              <a:t>「软便是新手最常遇到的问题」</a:t>
            </a:r>
          </a:p>
          <a:p>
            <a:pPr algn="l">
              <a:lnSpc>
                <a:spcPct val="155000"/>
              </a:lnSpc>
            </a:pPr>
            <a:r>
              <a:rPr sz="1650" b="0">
                <a:solidFill>
                  <a:srgbClr val="175A5E"/>
                </a:solidFill>
                <a:latin typeface="PingFang SC"/>
                <a:ea typeface="PingFang SC"/>
              </a:rPr>
              <a:t>——这些经验都写进了分诊规则。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CatCare · 垂类深度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75A5E"/>
                </a:solidFill>
                <a:latin typeface="PingFang SC"/>
                <a:ea typeface="PingFang SC"/>
              </a:rPr>
              <a:t>三分钟，走一遍真实的一天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10515600" cy="658368"/>
          </a:xfrm>
          <a:prstGeom prst="rect">
            <a:avLst/>
          </a:prstGeom>
          <a:solidFill>
            <a:srgbClr val="DDF6F5"/>
          </a:solidFill>
          <a:ln w="9525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29968"/>
            <a:ext cx="1737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175A5E"/>
                </a:solidFill>
                <a:latin typeface="PingFang SC"/>
                <a:ea typeface="PingFang SC"/>
              </a:rPr>
              <a:t>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2029968"/>
            <a:ext cx="4572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175A5E"/>
                </a:solidFill>
                <a:latin typeface="PingFang SC"/>
                <a:ea typeface="PingFang SC"/>
              </a:rPr>
              <a:t>产品动作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39" y="2029968"/>
            <a:ext cx="3657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175A5E"/>
                </a:solidFill>
                <a:latin typeface="PingFang SC"/>
                <a:ea typeface="PingFang SC"/>
              </a:rPr>
              <a:t>背后的智能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578608"/>
            <a:ext cx="10515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688336"/>
            <a:ext cx="1737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75A5E"/>
                </a:solidFill>
                <a:latin typeface="PingFang SC"/>
                <a:ea typeface="PingFang SC"/>
              </a:rPr>
              <a:t>建档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688336"/>
            <a:ext cx="4572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75A5E"/>
                </a:solidFill>
                <a:latin typeface="PingFang SC"/>
                <a:ea typeface="PingFang SC"/>
              </a:rPr>
              <a:t>2 月龄英短「豆豆」，四步录入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39" y="2688336"/>
            <a:ext cx="3657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E9095"/>
                </a:solidFill>
                <a:latin typeface="PingFang SC"/>
                <a:ea typeface="PingFang SC"/>
              </a:rPr>
              <a:t>生活方式 / 多宠家庭都会改变方案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236976"/>
            <a:ext cx="10515600" cy="658368"/>
          </a:xfrm>
          <a:prstGeom prst="rect">
            <a:avLst/>
          </a:prstGeom>
          <a:solidFill>
            <a:srgbClr val="F6FCFB"/>
          </a:solidFill>
          <a:ln w="9525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346704"/>
            <a:ext cx="1737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75A5E"/>
                </a:solidFill>
                <a:latin typeface="PingFang SC"/>
                <a:ea typeface="PingFang SC"/>
              </a:rPr>
              <a:t>时间线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346704"/>
            <a:ext cx="4572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75A5E"/>
                </a:solidFill>
                <a:latin typeface="PingFang SC"/>
                <a:ea typeface="PingFang SC"/>
              </a:rPr>
              <a:t>「第二针疫苗本周到期」置顶提醒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39" y="3346704"/>
            <a:ext cx="3657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E9095"/>
                </a:solidFill>
                <a:latin typeface="PingFang SC"/>
                <a:ea typeface="PingFang SC"/>
              </a:rPr>
              <a:t>AI 生成，可勾选、点开有操作指引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895344"/>
            <a:ext cx="10515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05072"/>
            <a:ext cx="1737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75A5E"/>
                </a:solidFill>
                <a:latin typeface="PingFang SC"/>
                <a:ea typeface="PingFang SC"/>
              </a:rPr>
              <a:t>问诊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4005072"/>
            <a:ext cx="4572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F5D5D"/>
                </a:solidFill>
                <a:latin typeface="PingFang SC"/>
                <a:ea typeface="PingFang SC"/>
              </a:rPr>
              <a:t>「它吐了」→ AI 追问 → 🔴 立即就医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39" y="4005072"/>
            <a:ext cx="3657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E9095"/>
                </a:solidFill>
                <a:latin typeface="PingFang SC"/>
                <a:ea typeface="PingFang SC"/>
              </a:rPr>
              <a:t>结合月龄从严判断，附观察要点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553712"/>
            <a:ext cx="10515600" cy="658368"/>
          </a:xfrm>
          <a:prstGeom prst="rect">
            <a:avLst/>
          </a:prstGeom>
          <a:solidFill>
            <a:srgbClr val="F6FCFB"/>
          </a:solidFill>
          <a:ln w="9525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663440"/>
            <a:ext cx="1737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75A5E"/>
                </a:solidFill>
                <a:latin typeface="PingFang SC"/>
                <a:ea typeface="PingFang SC"/>
              </a:rPr>
              <a:t>医院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4663440"/>
            <a:ext cx="4572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75A5E"/>
                </a:solidFill>
                <a:latin typeface="PingFang SC"/>
                <a:ea typeface="PingFang SC"/>
              </a:rPr>
              <a:t>高德地图 · 24h 急诊置顶 · 一键拨号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39" y="4663440"/>
            <a:ext cx="3657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E9095"/>
                </a:solidFill>
                <a:latin typeface="PingFang SC"/>
                <a:ea typeface="PingFang SC"/>
              </a:rPr>
              <a:t>覆盖西红门镇 6 家宠物医院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212080"/>
            <a:ext cx="10515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321808"/>
            <a:ext cx="1737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75A5E"/>
                </a:solidFill>
                <a:latin typeface="PingFang SC"/>
                <a:ea typeface="PingFang SC"/>
              </a:rPr>
              <a:t>回流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5321808"/>
            <a:ext cx="4572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75A5E"/>
                </a:solidFill>
                <a:latin typeface="PingFang SC"/>
                <a:ea typeface="PingFang SC"/>
              </a:rPr>
              <a:t>医嘱一句话 → 自动变成本周待办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39" y="5321808"/>
            <a:ext cx="3657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E9095"/>
                </a:solidFill>
                <a:latin typeface="PingFang SC"/>
                <a:ea typeface="PingFang SC"/>
              </a:rPr>
              <a:t>检验单拍照存档，体重曲线可记录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E9095"/>
                </a:solidFill>
                <a:latin typeface="PingFang SC"/>
                <a:ea typeface="PingFang SC"/>
              </a:rPr>
              <a:t>（此页配合现场演示 / 录屏播放）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CatCare · 产品演示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技术亮点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75A5E"/>
                </a:solidFill>
                <a:latin typeface="PingFang SC"/>
                <a:ea typeface="PingFang SC"/>
              </a:rPr>
              <a:t>知识库 RAG：</a:t>
            </a:r>
            <a:r>
              <a:rPr sz="3400" b="1">
                <a:solidFill>
                  <a:srgbClr val="00C2CE"/>
                </a:solidFill>
                <a:latin typeface="PingFang SC"/>
                <a:ea typeface="PingFang SC"/>
              </a:rPr>
              <a:t>只答校对过的，不编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23317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95728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175A5E"/>
                </a:solidFill>
                <a:latin typeface="PingFang SC"/>
                <a:ea typeface="PingFang SC"/>
              </a:rPr>
              <a:t>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35808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1">
                <a:solidFill>
                  <a:srgbClr val="175A5E"/>
                </a:solidFill>
                <a:latin typeface="PingFang SC"/>
                <a:ea typeface="PingFang SC"/>
              </a:rPr>
              <a:t>用户提问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E9095"/>
                </a:solidFill>
                <a:latin typeface="PingFang SC"/>
                <a:ea typeface="PingFang SC"/>
              </a:rPr>
              <a:t>「猫能喝牛奶吗」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5848" y="292608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0C2CE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13048" y="2194560"/>
            <a:ext cx="23317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2395728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175A5E"/>
                </a:solidFill>
                <a:latin typeface="PingFang SC"/>
                <a:ea typeface="PingFang SC"/>
              </a:rP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3035808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1">
                <a:solidFill>
                  <a:srgbClr val="175A5E"/>
                </a:solidFill>
                <a:latin typeface="PingFang SC"/>
                <a:ea typeface="PingFang SC"/>
              </a:rPr>
              <a:t>检索知识库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352044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E9095"/>
                </a:solidFill>
                <a:latin typeface="PingFang SC"/>
                <a:ea typeface="PingFang SC"/>
              </a:rPr>
              <a:t>命中 Top-3 相关条目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92608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0C2CE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03136" y="2194560"/>
            <a:ext cx="23317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03136" y="2395728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175A5E"/>
                </a:solidFill>
                <a:latin typeface="PingFang SC"/>
                <a:ea typeface="PingFang SC"/>
              </a:rP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3136" y="3035808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1">
                <a:solidFill>
                  <a:srgbClr val="175A5E"/>
                </a:solidFill>
                <a:latin typeface="PingFang SC"/>
                <a:ea typeface="PingFang SC"/>
              </a:rPr>
              <a:t>依据条目生成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352044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E9095"/>
                </a:solidFill>
                <a:latin typeface="PingFang SC"/>
                <a:ea typeface="PingFang SC"/>
              </a:rPr>
              <a:t>仅引用命中内容作答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6024" y="292608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0C2CE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93224" y="2194560"/>
            <a:ext cx="23317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93224" y="2395728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175A5E"/>
                </a:solidFill>
                <a:latin typeface="PingFang SC"/>
                <a:ea typeface="PingFang SC"/>
              </a:rPr>
              <a:t>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93224" y="3035808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1">
                <a:solidFill>
                  <a:srgbClr val="175A5E"/>
                </a:solidFill>
                <a:latin typeface="PingFang SC"/>
                <a:ea typeface="PingFang SC"/>
              </a:rPr>
              <a:t>标注来源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3224" y="352044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E9095"/>
                </a:solidFill>
                <a:latin typeface="PingFang SC"/>
                <a:ea typeface="PingFang SC"/>
              </a:rPr>
              <a:t>每条回答可溯源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754880"/>
            <a:ext cx="5852160" cy="384048"/>
          </a:xfrm>
          <a:prstGeom prst="roundRect">
            <a:avLst>
              <a:gd name="adj" fmla="val 50000"/>
            </a:avLst>
          </a:prstGeom>
          <a:solidFill>
            <a:srgbClr val="DDF6F5"/>
          </a:solidFill>
          <a:ln w="12700">
            <a:solidFill>
              <a:srgbClr val="DDF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30 条猫科知识 · 参照《猫咪家庭医学大百科》与 AAFP 指南校对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475488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DDF6F5"/>
          </a:solidFill>
          <a:ln w="12700">
            <a:solidFill>
              <a:srgbClr val="DDF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未收录会如实说「不知道」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30352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DDF6F5"/>
          </a:solidFill>
          <a:ln w="12700">
            <a:solidFill>
              <a:srgbClr val="DDF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每日科普轮换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CatCare · RAG 知识库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最想讲的一件事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75A5E"/>
                </a:solidFill>
                <a:latin typeface="PingFang SC"/>
                <a:ea typeface="PingFang SC"/>
              </a:rPr>
              <a:t>医生说的话，</a:t>
            </a:r>
            <a:r>
              <a:rPr sz="3400" b="1">
                <a:solidFill>
                  <a:srgbClr val="00C2CE"/>
                </a:solidFill>
                <a:latin typeface="PingFang SC"/>
                <a:ea typeface="PingFang SC"/>
              </a:rPr>
              <a:t>不会留在诊室里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051560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91440" cy="2651760"/>
          </a:xfrm>
          <a:prstGeom prst="rect">
            <a:avLst/>
          </a:prstGeom>
          <a:solidFill>
            <a:srgbClr val="00C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331720"/>
            <a:ext cx="97840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0">
                <a:solidFill>
                  <a:srgbClr val="175A5E"/>
                </a:solidFill>
                <a:latin typeface="PingFang SC"/>
                <a:ea typeface="PingFang SC"/>
              </a:rPr>
              <a:t>「禁食 12 小时，益生菌每天两次连喂 5 天，3 天后复诊」</a:t>
            </a:r>
          </a:p>
          <a:p>
            <a:pPr algn="l">
              <a:lnSpc>
                <a:spcPct val="145000"/>
              </a:lnSpc>
            </a:pPr>
            <a:r>
              <a:rPr sz="800" b="0">
                <a:solidFill>
                  <a:srgbClr val="175A5E"/>
                </a:solidFill>
                <a:latin typeface="PingFang SC"/>
                <a:ea typeface="PingFang SC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2100" b="0">
                <a:solidFill>
                  <a:srgbClr val="175A5E"/>
                </a:solidFill>
                <a:latin typeface="PingFang SC"/>
                <a:ea typeface="PingFang SC"/>
              </a:rPr>
              <a:t>→ 保存后自动变成时间线上的 </a:t>
            </a:r>
            <a:r>
              <a:rPr sz="2100" b="1">
                <a:solidFill>
                  <a:srgbClr val="175A5E"/>
                </a:solidFill>
                <a:latin typeface="PingFang SC"/>
                <a:ea typeface="PingFang SC"/>
              </a:rPr>
              <a:t>3 条待办</a:t>
            </a:r>
            <a:r>
              <a:rPr sz="2100" b="0">
                <a:solidFill>
                  <a:srgbClr val="175A5E"/>
                </a:solidFill>
                <a:latin typeface="PingFang SC"/>
                <a:ea typeface="PingFang SC"/>
              </a:rPr>
              <a:t>，打上 🏥 医嘱标——</a:t>
            </a:r>
          </a:p>
          <a:p>
            <a:pPr algn="l">
              <a:lnSpc>
                <a:spcPct val="145000"/>
              </a:lnSpc>
            </a:pPr>
            <a:r>
              <a:rPr sz="2200" b="1">
                <a:solidFill>
                  <a:srgbClr val="00C2CE"/>
                </a:solidFill>
                <a:latin typeface="PingFang SC"/>
                <a:ea typeface="PingFang SC"/>
              </a:rPr>
              <a:t>变成第二天早上的提醒。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E9095"/>
                </a:solidFill>
                <a:latin typeface="PingFang SC"/>
                <a:ea typeface="PingFang SC"/>
              </a:rPr>
              <a:t>就诊回填 + 检验单存档 + 体重曲线，健康数据全部沉淀在档案里。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CatCare · 数据闭环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为什么是西红门镇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75A5E"/>
                </a:solidFill>
                <a:latin typeface="PingFang SC"/>
                <a:ea typeface="PingFang SC"/>
              </a:rPr>
              <a:t>镇级民生基础设施，</a:t>
            </a:r>
            <a:r>
              <a:rPr sz="3400" b="1">
                <a:solidFill>
                  <a:srgbClr val="00C2CE"/>
                </a:solidFill>
                <a:latin typeface="PingFang SC"/>
                <a:ea typeface="PingFang SC"/>
              </a:rPr>
              <a:t>不止是一个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32918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00C2CE"/>
                </a:solidFill>
                <a:latin typeface="PingFang SC"/>
                <a:ea typeface="PingFang SC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75A5E"/>
                </a:solidFill>
                <a:latin typeface="PingFang SC"/>
                <a:ea typeface="PingFang SC"/>
              </a:rPr>
              <a:t>镇内宠物医院全覆盖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86200"/>
            <a:ext cx="2788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5E9095"/>
                </a:solidFill>
                <a:latin typeface="PingFang SC"/>
                <a:ea typeface="PingFang SC"/>
              </a:rPr>
              <a:t>地址电话逐一核实，高德地图直达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103120"/>
            <a:ext cx="32918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3774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00C2CE"/>
                </a:solidFill>
                <a:latin typeface="PingFang SC"/>
                <a:ea typeface="PingFang SC"/>
              </a:rPr>
              <a:t>24h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29184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75A5E"/>
                </a:solidFill>
                <a:latin typeface="PingFang SC"/>
                <a:ea typeface="PingFang SC"/>
              </a:rPr>
              <a:t>急诊绿色通道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886200"/>
            <a:ext cx="2788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5E9095"/>
                </a:solidFill>
                <a:latin typeface="PingFang SC"/>
                <a:ea typeface="PingFang SC"/>
              </a:rPr>
              <a:t>红色分诊自动置顶 24 小时医院，一键拨号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03120"/>
            <a:ext cx="32918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3774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00C2CE"/>
                </a:solidFill>
                <a:latin typeface="PingFang SC"/>
                <a:ea typeface="PingFang SC"/>
              </a:rPr>
              <a:t>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29184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75A5E"/>
                </a:solidFill>
                <a:latin typeface="PingFang SC"/>
                <a:ea typeface="PingFang SC"/>
              </a:rPr>
              <a:t>本地宠物文创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886200"/>
            <a:ext cx="2788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5E9095"/>
                </a:solidFill>
                <a:latin typeface="PingFang SC"/>
                <a:ea typeface="PingFang SC"/>
              </a:rPr>
              <a:t>猫咪照片一键生成吧唧 / 冰箱贴，联动 1688 供应链与本地医院联名周边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CatCare · 本地闭环 + 商业化想象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75A5E"/>
                </a:solidFill>
                <a:latin typeface="PingFang SC"/>
                <a:ea typeface="PingFang SC"/>
              </a:rPr>
              <a:t>从 Demo 到产品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0C2CE"/>
                </a:solidFill>
                <a:latin typeface="PingFang SC"/>
                <a:ea typeface="PingFang SC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75A5E"/>
                </a:solidFill>
                <a:latin typeface="PingFang SC"/>
                <a:ea typeface="PingFang SC"/>
              </a:rPr>
              <a:t>近期：</a:t>
            </a:r>
            <a:r>
              <a:rPr sz="1900" b="0">
                <a:solidFill>
                  <a:srgbClr val="175A5E"/>
                </a:solidFill>
                <a:latin typeface="PingFang SC"/>
                <a:ea typeface="PingFang SC"/>
              </a:rPr>
              <a:t>知识库扩充至 100+ 条并引入兽医审核；检索升级为向量召回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0C2CE"/>
                </a:solidFill>
                <a:latin typeface="PingFang SC"/>
                <a:ea typeface="PingFang SC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8036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75A5E"/>
                </a:solidFill>
                <a:latin typeface="PingFang SC"/>
                <a:ea typeface="PingFang SC"/>
              </a:rPr>
              <a:t>中期：</a:t>
            </a:r>
            <a:r>
              <a:rPr sz="1900" b="0">
                <a:solidFill>
                  <a:srgbClr val="175A5E"/>
                </a:solidFill>
                <a:latin typeface="PingFang SC"/>
                <a:ea typeface="PingFang SC"/>
              </a:rPr>
              <a:t>接入医院真实号源与预约；提醒推送；多宠物档案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0C2CE"/>
                </a:solidFill>
                <a:latin typeface="PingFang SC"/>
                <a:ea typeface="PingFang SC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49039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75A5E"/>
                </a:solidFill>
                <a:latin typeface="PingFang SC"/>
                <a:ea typeface="PingFang SC"/>
              </a:rPr>
              <a:t>远期：</a:t>
            </a:r>
            <a:r>
              <a:rPr sz="1900" b="0">
                <a:solidFill>
                  <a:srgbClr val="175A5E"/>
                </a:solidFill>
                <a:latin typeface="PingFang SC"/>
                <a:ea typeface="PingFang SC"/>
              </a:rPr>
              <a:t>以猫为样板复制到犬（独立知识体系）；镇级宠物健康数据面板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5E9095"/>
                </a:solidFill>
                <a:latin typeface="PingFang SC"/>
                <a:ea typeface="PingFang SC"/>
              </a:rPr>
              <a:t>今天的每一条分诊规则、每一条科普，都已经过真实猫主校对——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5E9095"/>
                </a:solidFill>
                <a:latin typeface="PingFang SC"/>
                <a:ea typeface="PingFang SC"/>
              </a:rPr>
              <a:t>这是我们和「随便问问大模型」最大的区别。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CatCare ·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CatCare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5200" b="1">
                <a:solidFill>
                  <a:srgbClr val="175A5E"/>
                </a:solidFill>
                <a:latin typeface="PingFang SC"/>
                <a:ea typeface="PingFang SC"/>
              </a:rPr>
              <a:t>新手养猫，</a:t>
            </a:r>
            <a:r>
              <a:rPr sz="5200" b="1">
                <a:solidFill>
                  <a:srgbClr val="00C2CE"/>
                </a:solidFill>
                <a:latin typeface="PingFang SC"/>
                <a:ea typeface="PingFang SC"/>
              </a:rPr>
              <a:t>从此不慌</a:t>
            </a:r>
            <a:r>
              <a:rPr sz="5200" b="1">
                <a:solidFill>
                  <a:srgbClr val="175A5E"/>
                </a:solidFill>
                <a:latin typeface="PingFang SC"/>
                <a:ea typeface="PingFang SC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5E9095"/>
                </a:solidFill>
                <a:latin typeface="PingFang SC"/>
                <a:ea typeface="PingFang SC"/>
              </a:rPr>
              <a:t>谢谢！欢迎现场体验 / 提问。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8912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DDF6F5"/>
          </a:solidFill>
          <a:ln w="12700">
            <a:solidFill>
              <a:srgbClr val="DDF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📋 档案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438912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DDF6F5"/>
          </a:solidFill>
          <a:ln w="12700">
            <a:solidFill>
              <a:srgbClr val="DDF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📅 时间线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438912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DDF6F5"/>
          </a:solidFill>
          <a:ln w="12700">
            <a:solidFill>
              <a:srgbClr val="DDF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🩺 问诊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438912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DDF6F5"/>
          </a:solidFill>
          <a:ln w="12700">
            <a:solidFill>
              <a:srgbClr val="DDF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📚 科普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438912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DDF6F5"/>
          </a:solidFill>
          <a:ln w="12700">
            <a:solidFill>
              <a:srgbClr val="DDF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🏥 医院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475488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0" b="0">
                <a:solidFill>
                  <a:srgbClr val="175A5E"/>
                </a:solidFill>
                <a:latin typeface="PingFang SC"/>
                <a:ea typeface="PingFang SC"/>
              </a:rPr>
              <a:t>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2026 西红门镇产业创新黑客松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